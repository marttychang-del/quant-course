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C00"/>
                </a:solidFill>
              </a:rPr>
              <a:t>量化交易是什麼？重建認知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Session 1 — 量化交易基礎概念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量化交易 8 堂課  |  Gamma Finance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📚 課前預習資源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5B88"/>
                </a:solidFill>
              </a:rPr>
              <a:t>Session 01 — 量化交易是什麼？重建認知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2" cy="1"/>
          </a:xfrm>
          <a:prstGeom prst="rect">
            <a:avLst/>
          </a:prstGeom>
          <a:solidFill>
            <a:srgbClr val="FFF3E0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744"/>
                </a:solidFill>
              </a:rPr>
              <a:t>🎬 推薦預習：搜尋「量化交易 入門」YouTube 影片（0.5h）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建議：用 1.5x 速度看完，對上課內容有基本概念再進教室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主觀交易 vs 量化交易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主觀交易：人為判斷，易受情緒影響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量化交易：規則/模型驅動，紀律性高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量化可回測驗證，主觀難以驗證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量化交易的優點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紀律性：規則寫死，不會「再看一下」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一致性：同樣條件，反覆執行同樣操作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回測驗證：用歷史資料快速確認策略是否成立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完整紀錄：所有交易有數據，可事後檢討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量化交易的限制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過擬合（Overfitting）：硬背歷史，未來失效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市場結構改變：過去適用的策略，未來可能不適用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技術停損風險：系統故障、網路斷線時無法及時反應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適合懶人散戶的策略類型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Event-driven（事件驅動）：除權息、財報公告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均值回歸：價格偏離長期均值時進場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動能（Momentum）：趨勢延續，順勢而為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💡 本堂關鍵複習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8C00"/>
                </a:solidFill>
              </a:rPr>
              <a:t>量化交易的價值在於紀律與一致性，而非「戰勝市場」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📝 課後作業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5B88"/>
                </a:solidFill>
              </a:rPr>
              <a:t>SESSION 01 — 量化交易是什麼？重建認知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744"/>
                </a:solidFill>
              </a:rPr>
              <a:t>用 Excel 跑 MA Cross 策略（MA5 / MA20），記錄信號與報酬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</a:rPr>
              <a:t>繳交方式：GitHub repo projects/ 目錄 或 email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08C00"/>
                </a:solidFill>
              </a:rPr>
              <a:t>量化交易是什麼？重建認知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End of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C00"/>
                </a:solidFill>
              </a:rPr>
              <a:t>金融數據基礎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Session 2 — 股價維度、資料來源、資料清理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量化交易 8 堂課  |  Gamma Finance Education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📚 課前預習資源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5B88"/>
                </a:solidFill>
              </a:rPr>
              <a:t>Session 02 — 金融數據基礎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2" cy="1"/>
          </a:xfrm>
          <a:prstGeom prst="rect">
            <a:avLst/>
          </a:prstGeom>
          <a:solidFill>
            <a:srgbClr val="FFF3E0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744"/>
                </a:solidFill>
              </a:rPr>
              <a:t>🎬 推薦預習：yfinance Python 教學（20 min）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建議：用 1.5x 速度看完，對上課內容有基本概念再進教室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股價維度：OHLC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Open（開盤價）、High（最高價）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Low（最低價）、Close（收盤價）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Volume（成交量）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Adj Close（前復權收盤價）— 計算報酬必用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常見數據來源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Yahoo Finance + yfinance（免費、最快上手）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券商 API（shioaji / FinMind）— 台股完整資料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Alpha Vantage（有技術指標，免費層 25 calls/day）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什麼是「因子」（Factor）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價格因子：MA、動能、均值回歸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成交量因子：放量/縮量、OBV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基本面因子：EPS、營收成長、毛利率、ROE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資料清理基本功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缺失值：dropna() / ffill() / 插值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極端值：用 3σ 定義並處理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前復權：計算報酬率時建議使用 Adj Close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💡 本堂關鍵複習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8C00"/>
                </a:solidFill>
              </a:rPr>
              <a:t>資料清理不做好的話，回測結果是垃圾進、垃圾出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📝 課後作業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5B88"/>
                </a:solidFill>
              </a:rPr>
              <a:t>SESSION 02 — 金融數據基礎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744"/>
                </a:solidFill>
              </a:rPr>
              <a:t>用 yfinance 抓股票 6 個月資料，輸出缺失值統計 + 收盤價圖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</a:rPr>
              <a:t>繳交方式：GitHub repo projects/ 目錄 或 email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08C00"/>
                </a:solidFill>
              </a:rPr>
              <a:t>金融數據基礎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End of Session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C00"/>
                </a:solidFill>
              </a:rPr>
              <a:t>基礎統計與金融時間序列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Session 3 — 均值、標準差、HV、均值回歸 vs 動能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量化交易 8 堂課  |  Gamma Finance Education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📚 課前預習資源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5B88"/>
                </a:solidFill>
              </a:rPr>
              <a:t>Session 03 — 基礎統計與金融時間序列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2" cy="1"/>
          </a:xfrm>
          <a:prstGeom prst="rect">
            <a:avLst/>
          </a:prstGeom>
          <a:solidFill>
            <a:srgbClr val="FFF3E0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744"/>
                </a:solidFill>
              </a:rPr>
              <a:t>🎬 推薦預習：歷史波動率（Historical Volatility）概念（20 min）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建議：用 1.5x 速度看完，對上課內容有基本概念再進教室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基礎統計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均值（Mean）— 報酬的中心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標準差（Std）— 衡量波動幅度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相關係數（Correlation）— 兩檔股票連動程度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常態分佈與肥尾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金融數據並非常態分佈，是「肥尾」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3σ 事件在金融市場發生頻率遠高於常態預期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以常態分佈算 VaR 會嚴重低估極端損失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歷史波動率（HV）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日波動率 × √252 = 年度化 HV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HV &gt; 30%：近期波動大；HV &lt; 15%：價格相對穩定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HV 趨勢比單一數字更有意義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均值回歸 vs 趨勢動能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均值回歸：價格會回到長期均值（適用區間震盪）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趨勢動能：趨勢會延續（適用多頭/空頭市場）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兩種邏輯都對，問題是市場什麼時候切換狀態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💡 本堂關鍵複習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8C00"/>
                </a:solidFill>
              </a:rPr>
              <a:t>HV 是衡量風險最誠實的指標，比 Beta 更直覺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📝 課後作業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5B88"/>
                </a:solidFill>
              </a:rPr>
              <a:t>SESSION 03 — 基礎統計與金融時間序列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744"/>
                </a:solidFill>
              </a:rPr>
              <a:t>計算 2-3 檔股票的 60 日 HV，並畫 HV 走勢圖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</a:rPr>
              <a:t>繳交方式：GitHub repo projects/ 目錄 或 email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08C00"/>
                </a:solidFill>
              </a:rPr>
              <a:t>基礎統計與金融時間序列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End of Session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C00"/>
                </a:solidFill>
              </a:rPr>
              <a:t>策略骨架：均線與動能策略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Session 4 — MA Cross + RSI + 停損 + 完整回測流程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量化交易 8 堂課  |  Gamma Finance Education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📚 課前預習資源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5B88"/>
                </a:solidFill>
              </a:rPr>
              <a:t>Session 04 — 策略骨架：均線與動能策略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2" cy="1"/>
          </a:xfrm>
          <a:prstGeom prst="rect">
            <a:avLst/>
          </a:prstGeom>
          <a:solidFill>
            <a:srgbClr val="FFF3E0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744"/>
                </a:solidFill>
              </a:rPr>
              <a:t>🎬 推薦預習：均線策略 Python 回測範例（20 min）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建議：用 1.5x 速度看完，對上課內容有基本概念再進教室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 Cross 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MA5 上穿 MA20 → 買進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MA5 下穿 MA20 → 賣出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參數可調整（MA10/MA30、EMA）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RSI 動能策略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RSI &gt; 70：超買（可能反轉）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RSI &lt; 30：超賣（可能反彈）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RSI 結合均線可過濾假信號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停損/停利規則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固定停損：進場價 - r%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ATR 停損：動態調整，適用所有標的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移動停損：從高點回落 X% 止損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沒有停損的策略，是賭博，不是策略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為何書本策略賺不到錢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資訊落後：書出版時策略已公開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滑價（Slippage）：0.1-0.5% 成交價差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交易成本：頻繁交易侵蝕報酬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過擬合：最佳參數是歷史的特殊情況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💡 本堂關鍵複習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8C00"/>
                </a:solidFill>
              </a:rPr>
              <a:t>停損是策略的保險，沒有停損的策略在黑天鵝事件會歸零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📝 課後作業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5B88"/>
                </a:solidFill>
              </a:rPr>
              <a:t>SESSION 04 — 策略骨架：均線與動能策略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744"/>
                </a:solidFill>
              </a:rPr>
              <a:t>完成 MA+RSI 回測，計算總報酬、夏普比率、Max Drawdown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</a:rPr>
              <a:t>繳交方式：GitHub repo projects/ 目錄 或 email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08C00"/>
                </a:solidFill>
              </a:rPr>
              <a:t>策略骨架：均線與動能策略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End of Session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C00"/>
                </a:solidFill>
              </a:rPr>
              <a:t>風險管理與資金管理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Session 5 — Kelly Criterion、2% 原則、部位計算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量化交易 8 堂課  |  Gamma Finance Education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📚 課前預習資源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5B88"/>
                </a:solidFill>
              </a:rPr>
              <a:t>Session 05 — 風險管理與資金管理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2" cy="1"/>
          </a:xfrm>
          <a:prstGeom prst="rect">
            <a:avLst/>
          </a:prstGeom>
          <a:solidFill>
            <a:srgbClr val="FFF3E0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744"/>
                </a:solidFill>
              </a:rPr>
              <a:t>🎬 推薦預習：Kelly Criterion 與資金管理（20 min）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建議：用 1.5x 速度看完，對上課內容有基本概念再進教室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Kelly Criterion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f* = (bp - q) / b：每次該押多少資產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Kelly 是理論上限，實務建議用 ÷ 2（半 Kelly）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全 Kelly 波動太大，一般人承受不住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停損紀律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固定停損：簡單明確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ATR 停損：以真實波幅的倍數設定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移動停損：保護帳面獲利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2% 原則：單筆損失不超過帳戶 2%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2% 部位計算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帳戶 100 萬 → 單筆最大損失 2 萬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每股風險 = 進場價 - 停損價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買入股數 = 最大損失 ÷ 每股風險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Max Drawdown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從高點到低點的最大跌幅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夏普 2.0 + Max DD 50% = 高風險策略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夏普 1.0 + Max DD 10% = 低風險策略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💡 本堂關鍵複習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8C00"/>
                </a:solidFill>
              </a:rPr>
              <a:t>資金管理比進場訊號更重要，再好的策略滿倉一次失敗就歸零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📝 課後作業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5B88"/>
                </a:solidFill>
              </a:rPr>
              <a:t>SESSION 05 — 風險管理與資金管理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744"/>
                </a:solidFill>
              </a:rPr>
              <a:t>計算自己策略的 Kelly % 與 2% 原則下的部位規模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</a:rPr>
              <a:t>繳交方式：GitHub repo projects/ 目錄 或 email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08C00"/>
                </a:solidFill>
              </a:rPr>
              <a:t>風險管理與資金管理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End of Session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C00"/>
                </a:solidFill>
              </a:rPr>
              <a:t>統計套利與事件驅動（初階）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Session 6 — 配對交易、事件策略、策略生命週期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量化交易 8 堂課  |  Gamma Finance Education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📚 課前預習資源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5B88"/>
                </a:solidFill>
              </a:rPr>
              <a:t>Session 06 — 統計套利與事件驅動（初階）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2" cy="1"/>
          </a:xfrm>
          <a:prstGeom prst="rect">
            <a:avLst/>
          </a:prstGeom>
          <a:solidFill>
            <a:srgbClr val="FFF3E0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744"/>
                </a:solidFill>
              </a:rPr>
              <a:t>🎬 推薦預習：配對交易（Pairs Trading）原理（20 min）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建議：用 1.5x 速度看完，對上課內容有基本概念再進教室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Pair Trading 配對交易原理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兩檔高度相關股票，長期會維持均衡關係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Z-score &gt; 2：Short A / Long B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Z-score &lt; -2：Long A / Short B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Z-score 回到 0 附近：平倉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台股特殊事件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除權息（7-8 月）：指數自然蒸發，可期現套利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季度營收（3,5,8,11 月）：營收年增率 &gt; 20% 動能策略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庫存消化：半導體庫存週期約 3-4 季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量化策略生命週期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開發期（1-3 月）：想法→回測→參數優化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模擬期（1-3 月）：Paper trade 確認可行性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實盤期（6-24 月）：小資金上線，逐步增加部位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衰減期：市場結構改變 or 策略被太多人用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💡 本堂關鍵複習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8C00"/>
                </a:solidFill>
              </a:rPr>
              <a:t>配對交易核心風險：比率不回歸——基本面改變會讓歷史均衡失效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📝 課後作業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5B88"/>
                </a:solidFill>
              </a:rPr>
              <a:t>SESSION 06 — 統計套利與事件驅動（初階）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744"/>
                </a:solidFill>
              </a:rPr>
              <a:t>用相關係數找出台股 3 組有套利潛力的股票對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</a:rPr>
              <a:t>繳交方式：GitHub repo projects/ 目錄 或 email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08C00"/>
                </a:solidFill>
              </a:rPr>
              <a:t>統計套利與事件驅動（初階）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End of Session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C00"/>
                </a:solidFill>
              </a:rPr>
              <a:t>因子模型與智慧組合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Session 7 — Fama-French 三因子、Smart Beta、過擬合陷阱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量化交易 8 堂課  |  Gamma Finance Education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📚 課前預習資源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5B88"/>
                </a:solidFill>
              </a:rPr>
              <a:t>Session 07 — 因子模型與智慧組合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2" cy="1"/>
          </a:xfrm>
          <a:prstGeom prst="rect">
            <a:avLst/>
          </a:prstGeom>
          <a:solidFill>
            <a:srgbClr val="FFF3E0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744"/>
                </a:solidFill>
              </a:rPr>
              <a:t>🎬 推薦預習：Fama-French 三因子模型（20 min）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建議：用 1.5x 速度看完，對上課內容有基本概念再進教室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Fama-French 三因子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市場β（MKT）：對整體市場的敏感度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規模（SMB）：小型股優於大型股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價值（HML）：價值股優於成長股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半導體/AI 供應鏈常見因子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營收成長：QoQ / YoY 增幅（月營收年增率）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毛利率：（營收 - 成本）/ 營收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供需缺口：產能利用率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Smart Beta 建構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規則驅動的指數增強組合，不依賴主動選股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篩選條件 → 因子評分 → 標準化 → 給權重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價值在於紀律性——不會因情緒偏離規則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避免因子過擬合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空間驗證：因子在不同市場是否都有效？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時間驗證：滾動視窗測試（Walk-Forward）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單因子測試：先確認每個因子單獨有效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💡 本堂關鍵複習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8C00"/>
                </a:solidFill>
              </a:rPr>
              <a:t>因子投資的本質：把投資信念翻譯成可衡量、可驗證的規則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📝 課後作業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5B88"/>
                </a:solidFill>
              </a:rPr>
              <a:t>SESSION 07 — 因子模型與智慧組合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744"/>
                </a:solidFill>
              </a:rPr>
              <a:t>找 3 個自己持股的「買入邏輯」，翻譯成量化因子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</a:rPr>
              <a:t>繳交方式：GitHub repo projects/ 目錄 或 email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08C00"/>
                </a:solidFill>
              </a:rPr>
              <a:t>因子模型與智慧組合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End of Session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C00"/>
                </a:solidFill>
              </a:rPr>
              <a:t>從回測到實盤 + 系統化框架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Session 8 — 回測陷阱、券商 API、日常流程、期末專案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量化交易 8 堂課  |  Gamma Finance Education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📚 課前預習資源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5B88"/>
                </a:solidFill>
              </a:rPr>
              <a:t>Session 08 — 從回測到實盤 + 系統化框架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2" cy="1"/>
          </a:xfrm>
          <a:prstGeom prst="rect">
            <a:avLst/>
          </a:prstGeom>
          <a:solidFill>
            <a:srgbClr val="FFF3E0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744"/>
                </a:solidFill>
              </a:rPr>
              <a:t>🎬 推薦預習：回測陷阱與 Walk-Forward 驗證（20 min）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建議：用 1.5x 速度看完，對上課內容有基本概念再進教室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回測陷阱（三大殺手）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前視偏差：使用了當時還沒公布的資料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存活者偏差：只用還存在的股票回測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最佳化偏差：用同一份數據反覆調參數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Walk-Forward 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訓練集（Train）：2020-2022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驗證集（Validate）：2023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測試集（Test）：2024+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在 Train 上優化，Validate 上確認，Test 上最終驗證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券商 API 串接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IBKR（Interactive Brokers）：最完整，Python 支援好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先在 Paper Trade 跑三個月，確認正常再轉實盤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SESSION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量化交易日常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每週六：檢視本週信號、計算績效、檢查市場環境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每日收盤前：確認明日事件、檢查策略參數</a:t>
            </a:r>
          </a:p>
          <a:p>
            <a:pPr>
              <a:spcBef>
                <a:spcPts val="400"/>
              </a:spcBef>
              <a:indent val="-342900"/>
              <a:marL val="457200"/>
            </a:pPr>
            <a:r>
              <a:rPr sz="1700">
                <a:solidFill>
                  <a:srgbClr val="1A2744"/>
                </a:solidFill>
              </a:rPr>
              <a:t>• 盤後：記錄交易、更新持倉績效、產出簡報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💡 本堂關鍵複習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8C00"/>
                </a:solidFill>
              </a:rPr>
              <a:t>量化交易的價值不是戰勝市場，而是紀律、一致性、可複製性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📝 課後作業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5B88"/>
                </a:solidFill>
              </a:rPr>
              <a:t>SESSION 08 — 從回測到實盤 + 系統化框架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744"/>
                </a:solidFill>
              </a:rPr>
              <a:t>完成期末專案提案（進場邏輯 + 停損 + 資金管理 + 回測規劃）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</a:rPr>
              <a:t>繳交方式：GitHub repo projects/ 目錄 或 email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SESSION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08C00"/>
                </a:solidFill>
              </a:rPr>
              <a:t>從回測到實盤 + 系統化框架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End of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